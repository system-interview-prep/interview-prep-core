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7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548640"/>
            <a:ext cx="2560320" cy="2560320"/>
          </a:xfrm>
          <a:prstGeom prst="ellipse">
            <a:avLst/>
          </a:prstGeom>
          <a:solidFill>
            <a:srgbClr val="00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3383280"/>
            <a:ext cx="1097280" cy="1097280"/>
          </a:xfrm>
          <a:prstGeom prst="ellipse">
            <a:avLst/>
          </a:prstGeom>
          <a:solidFill>
            <a:srgbClr val="D0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4297680"/>
            <a:ext cx="594360" cy="594360"/>
          </a:xfrm>
          <a:prstGeom prst="ellipse">
            <a:avLst/>
          </a:prstGeom>
          <a:solidFill>
            <a:srgbClr val="C56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6400800" cy="25603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000" b="1">
                <a:solidFill>
                  <a:srgbClr val="73CDC4"/>
                </a:solidFill>
                <a:latin typeface="Aptos"/>
              </a:rPr>
              <a:t>ENGINEERING REVIEW  /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7772400" cy="129844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3400" b="1">
                <a:solidFill>
                  <a:srgbClr val="FFFFFD"/>
                </a:solidFill>
                <a:latin typeface="Aptos"/>
              </a:rPr>
              <a:t>Question Bank
&amp; Scoring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583680" cy="6583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700" b="0">
                <a:solidFill>
                  <a:srgbClr val="CDD7D8"/>
                </a:solidFill>
                <a:latin typeface="Aptos"/>
              </a:rPr>
              <a:t>Cấu trúc câu hỏi · rubric chấm điểm · follow-up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297680"/>
            <a:ext cx="1097280" cy="0"/>
          </a:xfrm>
          <a:prstGeom prst="line">
            <a:avLst/>
          </a:prstGeom>
          <a:ln w="38100">
            <a:solidFill>
              <a:srgbClr val="D097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599432"/>
            <a:ext cx="6126480" cy="53035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300" b="0">
                <a:solidFill>
                  <a:srgbClr val="ABBBBF"/>
                </a:solidFill>
                <a:latin typeface="Aptos"/>
              </a:rPr>
              <a:t>Mô hình dữ liệu trong code và
hành vi thực tế của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5486400" cy="18288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ABBBBF"/>
                </a:solidFill>
                <a:latin typeface="Aptos"/>
              </a:rPr>
              <a:t>INTERVIEW PREP CORE  •  02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731520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01 / TỔNG QUAN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500" b="1">
                <a:solidFill>
                  <a:srgbClr val="1B2736"/>
                </a:solidFill>
                <a:latin typeface="Aptos"/>
              </a:rPr>
              <a:t>Question Bank là nguồn chuẩn có phiên bản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667512" cy="0"/>
          </a:xfrm>
          <a:prstGeom prst="line">
            <a:avLst/>
          </a:prstGeom>
          <a:ln w="381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00" b="0">
                <a:solidFill>
                  <a:srgbClr val="646F79"/>
                </a:solidFill>
                <a:latin typeface="Aptos"/>
              </a:rPr>
              <a:t>INTERVIEW PREP CORE  ·  TECHNICAL REPORT  ·  02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103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r"/>
            <a:r>
              <a:rPr sz="900" b="1">
                <a:solidFill>
                  <a:srgbClr val="646F79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3657600" cy="214884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800" b="1">
                <a:solidFill>
                  <a:srgbClr val="1B2736"/>
                </a:solidFill>
                <a:latin typeface="Aptos"/>
              </a:rPr>
              <a:t>Một câu hỏi tốt
đi cùng một
barem rõ ràng.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3383280" cy="74980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400" b="0">
                <a:solidFill>
                  <a:srgbClr val="646F79"/>
                </a:solidFill>
                <a:latin typeface="Aptos"/>
              </a:rPr>
              <a:t>Câu hỏi, rubric và lượt phỏng vấn được nối bằng ID phiên bản.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64208"/>
            <a:ext cx="6766560" cy="106984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1920240"/>
            <a:ext cx="548640" cy="34747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800" b="1">
                <a:solidFill>
                  <a:srgbClr val="4F74A4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847088"/>
            <a:ext cx="1920240" cy="2743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500" b="1">
                <a:solidFill>
                  <a:srgbClr val="1B2736"/>
                </a:solidFill>
                <a:latin typeface="Aptos"/>
              </a:rPr>
              <a:t>Biên soạn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1819656"/>
            <a:ext cx="3429000" cy="6217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200" b="0">
                <a:solidFill>
                  <a:srgbClr val="646F79"/>
                </a:solidFill>
                <a:latin typeface="Aptos"/>
              </a:rPr>
              <a:t>Nội dung, mục tiêu, taxonomy, độ khó và thời lượng.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3017520"/>
            <a:ext cx="6766560" cy="106984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3273552"/>
            <a:ext cx="548640" cy="34747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800" b="1">
                <a:solidFill>
                  <a:srgbClr val="D09745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3200400"/>
            <a:ext cx="1920240" cy="2743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500" b="1">
                <a:solidFill>
                  <a:srgbClr val="1B2736"/>
                </a:solidFill>
                <a:latin typeface="Aptos"/>
              </a:rPr>
              <a:t>Duyệt chuẩn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3172968"/>
            <a:ext cx="3429000" cy="6217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200" b="0">
                <a:solidFill>
                  <a:srgbClr val="646F79"/>
                </a:solidFill>
                <a:latin typeface="Aptos"/>
              </a:rPr>
              <a:t>Rubric liên kết câu hỏi; trạng thái duyệt quyết định khả năng dùng.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370832"/>
            <a:ext cx="6766560" cy="106984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626864"/>
            <a:ext cx="548640" cy="34747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800" b="1">
                <a:solidFill>
                  <a:srgbClr val="008284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2" y="4553712"/>
            <a:ext cx="1920240" cy="2743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500" b="1">
                <a:solidFill>
                  <a:srgbClr val="1B2736"/>
                </a:solidFill>
                <a:latin typeface="Aptos"/>
              </a:rPr>
              <a:t>Đóng băng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4526280"/>
            <a:ext cx="3429000" cy="6217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200" b="0">
                <a:solidFill>
                  <a:srgbClr val="646F79"/>
                </a:solidFill>
                <a:latin typeface="Aptos"/>
              </a:rPr>
              <a:t>P2 chụp question version và rubric version vào turn.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731520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02 / LUỒNG CHẠY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500" b="1">
                <a:solidFill>
                  <a:srgbClr val="1B2736"/>
                </a:solidFill>
                <a:latin typeface="Aptos"/>
              </a:rPr>
              <a:t>Từ ngân hàng đến kết quả đánh giá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667512" cy="0"/>
          </a:xfrm>
          <a:prstGeom prst="line">
            <a:avLst/>
          </a:prstGeom>
          <a:ln w="381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00" b="0">
                <a:solidFill>
                  <a:srgbClr val="646F79"/>
                </a:solidFill>
                <a:latin typeface="Aptos"/>
              </a:rPr>
              <a:t>INTERVIEW PREP CORE  ·  TECHNICAL REPORT  ·  02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103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r"/>
            <a:r>
              <a:rPr sz="900" b="1">
                <a:solidFill>
                  <a:srgbClr val="646F7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011680"/>
            <a:ext cx="1901952" cy="15727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682496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4F74A4"/>
                </a:solidFill>
                <a:latin typeface="Aptos"/>
              </a:rPr>
              <a:t>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60904"/>
            <a:ext cx="1719072" cy="56692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300" b="1">
                <a:solidFill>
                  <a:srgbClr val="1B2736"/>
                </a:solidFill>
                <a:latin typeface="Aptos"/>
              </a:rPr>
              <a:t>Question + rubric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3744" y="2816352"/>
            <a:ext cx="365760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9464" y="2551176"/>
            <a:ext cx="274320" cy="30175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2200" b="1">
                <a:solidFill>
                  <a:srgbClr val="008284"/>
                </a:solidFill>
                <a:latin typeface="Aptos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5224" y="2011680"/>
            <a:ext cx="1901952" cy="15727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249424"/>
            <a:ext cx="1682496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D09745"/>
                </a:solidFill>
                <a:latin typeface="Aptos"/>
              </a:rPr>
              <a:t>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660904"/>
            <a:ext cx="1719072" cy="56692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300" b="1">
                <a:solidFill>
                  <a:srgbClr val="1B2736"/>
                </a:solidFill>
                <a:latin typeface="Aptos"/>
              </a:rPr>
              <a:t>Concept · locale
độ khó · status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37176" y="2816352"/>
            <a:ext cx="365760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82896" y="2551176"/>
            <a:ext cx="274320" cy="30175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2200" b="1">
                <a:solidFill>
                  <a:srgbClr val="008284"/>
                </a:solidFill>
                <a:latin typeface="Aptos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5" y="2011680"/>
            <a:ext cx="1901952" cy="15727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249424"/>
            <a:ext cx="1682496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008284"/>
                </a:solidFill>
                <a:latin typeface="Aptos"/>
              </a:rPr>
              <a:t>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5" y="2660904"/>
            <a:ext cx="1719072" cy="56692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300" b="1">
                <a:solidFill>
                  <a:srgbClr val="1B2736"/>
                </a:solidFill>
                <a:latin typeface="Aptos"/>
              </a:rPr>
              <a:t>Version IDs
+ frozen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50607" y="2816352"/>
            <a:ext cx="365760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196327" y="2551176"/>
            <a:ext cx="274320" cy="30175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2200" b="1">
                <a:solidFill>
                  <a:srgbClr val="008284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62088" y="2011680"/>
            <a:ext cx="1901952" cy="15727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5" y="2249424"/>
            <a:ext cx="1682496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C56650"/>
                </a:solidFill>
                <a:latin typeface="Aptos"/>
              </a:rPr>
              <a:t>INTERVIEW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2660904"/>
            <a:ext cx="1719072" cy="56692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300" b="1">
                <a:solidFill>
                  <a:srgbClr val="1B2736"/>
                </a:solidFill>
                <a:latin typeface="Aptos"/>
              </a:rPr>
              <a:t>Answer
+ optional probe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2816352"/>
            <a:ext cx="365760" cy="0"/>
          </a:xfrm>
          <a:prstGeom prst="line">
            <a:avLst/>
          </a:prstGeom>
          <a:ln w="254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509759" y="2551176"/>
            <a:ext cx="274320" cy="30175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2200" b="1">
                <a:solidFill>
                  <a:srgbClr val="008284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19" y="2011680"/>
            <a:ext cx="1901952" cy="15727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85247" y="2249424"/>
            <a:ext cx="1682496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4F74A4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660904"/>
            <a:ext cx="1719072" cy="56692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300" b="1">
                <a:solidFill>
                  <a:srgbClr val="1B2736"/>
                </a:solidFill>
                <a:latin typeface="Aptos"/>
              </a:rPr>
              <a:t>Score tổng
+ feedback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06240"/>
            <a:ext cx="10698480" cy="987552"/>
          </a:xfrm>
          <a:prstGeom prst="roundRect">
            <a:avLst>
              <a:gd name="adj" fmla="val 10000"/>
            </a:avLst>
          </a:prstGeom>
          <a:solidFill>
            <a:srgbClr val="EBF2EF"/>
          </a:solidFill>
          <a:ln w="8890">
            <a:solidFill>
              <a:srgbClr val="CB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416552"/>
            <a:ext cx="150876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TURN SNAPSHOT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4379976"/>
            <a:ext cx="8503920" cy="4389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600" b="1">
                <a:solidFill>
                  <a:srgbClr val="1B2736"/>
                </a:solidFill>
                <a:latin typeface="Aptos"/>
              </a:rPr>
              <a:t>Tái hiện chính xác câu hỏi và barem đã dùng khi bank thay đổi về sau.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731520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03 / DOMAIN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500" b="1">
                <a:solidFill>
                  <a:srgbClr val="1B2736"/>
                </a:solidFill>
                <a:latin typeface="Aptos"/>
              </a:rPr>
              <a:t>Class diagram / câu hỏi và rubric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667512" cy="0"/>
          </a:xfrm>
          <a:prstGeom prst="line">
            <a:avLst/>
          </a:prstGeom>
          <a:ln w="381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00" b="0">
                <a:solidFill>
                  <a:srgbClr val="646F79"/>
                </a:solidFill>
                <a:latin typeface="Aptos"/>
              </a:rPr>
              <a:t>INTERVIEW PREP CORE  ·  TECHNICAL REPORT  ·  02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103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r"/>
            <a:r>
              <a:rPr sz="900" b="1">
                <a:solidFill>
                  <a:srgbClr val="646F79"/>
                </a:solidFill>
                <a:latin typeface="Aptos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24328" y="2176272"/>
            <a:ext cx="502920" cy="0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88336" y="1938528"/>
            <a:ext cx="594360" cy="18288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800" b="1">
                <a:solidFill>
                  <a:srgbClr val="646F79"/>
                </a:solidFill>
                <a:latin typeface="Aptos"/>
              </a:rPr>
              <a:t>1 : 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176272"/>
            <a:ext cx="457200" cy="0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67528" y="1938528"/>
            <a:ext cx="594360" cy="18288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800" b="1">
                <a:solidFill>
                  <a:srgbClr val="646F79"/>
                </a:solidFill>
                <a:latin typeface="Aptos"/>
              </a:rPr>
              <a:t>N : 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176272"/>
            <a:ext cx="429768" cy="0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0" y="1938528"/>
            <a:ext cx="594360" cy="18288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800" b="1">
                <a:solidFill>
                  <a:srgbClr val="646F79"/>
                </a:solidFill>
                <a:latin typeface="Aptos"/>
              </a:rPr>
              <a:t>1 : 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87952" y="2862072"/>
            <a:ext cx="0" cy="905256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03720" y="2862072"/>
            <a:ext cx="0" cy="905256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2862072"/>
            <a:ext cx="0" cy="905256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" y="1572768"/>
            <a:ext cx="2057400" cy="123444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1572768"/>
            <a:ext cx="2057400" cy="320040"/>
          </a:xfrm>
          <a:prstGeom prst="rect">
            <a:avLst/>
          </a:prstGeom>
          <a:solidFill>
            <a:srgbClr val="4F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1609344"/>
            <a:ext cx="196596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InterviewQuestion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11680"/>
            <a:ext cx="1819656" cy="74980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0">
                <a:solidFill>
                  <a:srgbClr val="1B2736"/>
                </a:solidFill>
                <a:latin typeface="Aptos"/>
              </a:rPr>
              <a:t>id
stable_key
current approved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7248" y="1444752"/>
            <a:ext cx="2221992" cy="141732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27248" y="1444752"/>
            <a:ext cx="2221992" cy="320040"/>
          </a:xfrm>
          <a:prstGeom prst="rect">
            <a:avLst/>
          </a:prstGeom>
          <a:solidFill>
            <a:srgbClr val="4F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72968" y="1481328"/>
            <a:ext cx="2130552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QuestionVersion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1883664"/>
            <a:ext cx="1984248" cy="93268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40" b="0">
                <a:solidFill>
                  <a:srgbClr val="1B2736"/>
                </a:solidFill>
                <a:latin typeface="Aptos"/>
              </a:rPr>
              <a:t>id · question_id · version
status · type · difficulty
canonical_text · objective
time limits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572768"/>
            <a:ext cx="2194560" cy="123444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06440" y="1572768"/>
            <a:ext cx="2194560" cy="320040"/>
          </a:xfrm>
          <a:prstGeom prst="rect">
            <a:avLst/>
          </a:prstGeom>
          <a:solidFill>
            <a:srgbClr val="D0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1609344"/>
            <a:ext cx="210312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QuestionVersionRubric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5312" y="2011680"/>
            <a:ext cx="1956815" cy="74980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0">
                <a:solidFill>
                  <a:srgbClr val="1B2736"/>
                </a:solidFill>
                <a:latin typeface="Aptos"/>
              </a:rPr>
              <a:t>question_version_id
rubric_version_id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0768" y="1444752"/>
            <a:ext cx="2880360" cy="141732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30768" y="1444752"/>
            <a:ext cx="2880360" cy="320040"/>
          </a:xfrm>
          <a:prstGeom prst="rect">
            <a:avLst/>
          </a:prstGeom>
          <a:solidFill>
            <a:srgbClr val="D0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8" y="1481328"/>
            <a:ext cx="278892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RubricVersion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1883664"/>
            <a:ext cx="2642615" cy="93268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69" b="0">
                <a:solidFill>
                  <a:srgbClr val="1B2736"/>
                </a:solidFill>
                <a:latin typeface="Aptos"/>
              </a:rPr>
              <a:t>id · version · score range
coverage floor
aggregation method/policy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27248" y="3767328"/>
            <a:ext cx="2221992" cy="137160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27248" y="3767328"/>
            <a:ext cx="2221992" cy="320040"/>
          </a:xfrm>
          <a:prstGeom prst="rect">
            <a:avLst/>
          </a:prstGeom>
          <a:solidFill>
            <a:srgbClr val="00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72968" y="3803904"/>
            <a:ext cx="2130552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ExpectedPoint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4206240"/>
            <a:ext cx="1984248" cy="8869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0">
                <a:solidFill>
                  <a:srgbClr val="1B2736"/>
                </a:solidFill>
                <a:latin typeface="Aptos"/>
              </a:rPr>
              <a:t>question_version_id
key · description
importance · order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3767328"/>
            <a:ext cx="2194560" cy="137160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06440" y="3767328"/>
            <a:ext cx="2194560" cy="320040"/>
          </a:xfrm>
          <a:prstGeom prst="rect">
            <a:avLst/>
          </a:prstGeom>
          <a:solidFill>
            <a:srgbClr val="D0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59" y="3803904"/>
            <a:ext cx="210312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RubricCriterion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25312" y="4206240"/>
            <a:ext cx="1956815" cy="8869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0">
                <a:solidFill>
                  <a:srgbClr val="1B2736"/>
                </a:solidFill>
                <a:latin typeface="Aptos"/>
              </a:rPr>
              <a:t>rubric_version_id
name · weight · critical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30768" y="3767328"/>
            <a:ext cx="2880360" cy="137160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30768" y="3767328"/>
            <a:ext cx="2880360" cy="320040"/>
          </a:xfrm>
          <a:prstGeom prst="rect">
            <a:avLst/>
          </a:prstGeom>
          <a:solidFill>
            <a:srgbClr val="D0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76488" y="3803904"/>
            <a:ext cx="278892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RubricAnchor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206240"/>
            <a:ext cx="2642615" cy="8869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60" b="0">
                <a:solidFill>
                  <a:srgbClr val="1B2736"/>
                </a:solidFill>
                <a:latin typeface="Aptos"/>
              </a:rPr>
              <a:t>criterion_id · level 0..3
description · positive and
negative indicators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59552"/>
            <a:ext cx="10607040" cy="34747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100" b="0">
                <a:solidFill>
                  <a:srgbClr val="646F79"/>
                </a:solidFill>
                <a:latin typeface="Aptos"/>
              </a:rPr>
              <a:t>Một câu hỏi có nhiều version · rubric gồm nhiều tiêu chí · mỗi tiêu chí có anchor mức 0–3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731520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04 /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500" b="1">
                <a:solidFill>
                  <a:srgbClr val="1B2736"/>
                </a:solidFill>
                <a:latin typeface="Aptos"/>
              </a:rPr>
              <a:t>Schema lưu rubric chi tiết hơn cách chấm hiện tại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667512" cy="0"/>
          </a:xfrm>
          <a:prstGeom prst="line">
            <a:avLst/>
          </a:prstGeom>
          <a:ln w="381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00" b="0">
                <a:solidFill>
                  <a:srgbClr val="646F79"/>
                </a:solidFill>
                <a:latin typeface="Aptos"/>
              </a:rPr>
              <a:t>INTERVIEW PREP CORE  ·  TECHNICAL REPORT  ·  02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103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r"/>
            <a:r>
              <a:rPr sz="900" b="1">
                <a:solidFill>
                  <a:srgbClr val="646F79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4023360" cy="22860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000" b="1">
                <a:solidFill>
                  <a:srgbClr val="D09745"/>
                </a:solidFill>
                <a:latin typeface="Aptos"/>
              </a:rPr>
              <a:t>RUBRIC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03120"/>
            <a:ext cx="3977639" cy="6583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76856"/>
            <a:ext cx="1005840" cy="25603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300" b="1">
                <a:solidFill>
                  <a:srgbClr val="D09745"/>
                </a:solidFill>
                <a:latin typeface="Aptos"/>
              </a:rPr>
              <a:t>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231136"/>
            <a:ext cx="2514600" cy="3931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050" b="0">
                <a:solidFill>
                  <a:srgbClr val="1B2736"/>
                </a:solidFill>
                <a:latin typeface="Aptos"/>
              </a:rPr>
              <a:t>score range · minimum coverage · aggregation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99232"/>
            <a:ext cx="3977639" cy="6583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72968"/>
            <a:ext cx="1005840" cy="25603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300" b="1">
                <a:solidFill>
                  <a:srgbClr val="D09745"/>
                </a:solidFill>
                <a:latin typeface="Aptos"/>
              </a:rPr>
              <a:t>Criterion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3127248"/>
            <a:ext cx="2514600" cy="3931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050" b="0">
                <a:solidFill>
                  <a:srgbClr val="1B2736"/>
                </a:solidFill>
                <a:latin typeface="Aptos"/>
              </a:rPr>
              <a:t>weight · critical · mô tả tiêu chí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895344"/>
            <a:ext cx="3977639" cy="6583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05840" cy="25603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300" b="1">
                <a:solidFill>
                  <a:srgbClr val="D09745"/>
                </a:solidFill>
                <a:latin typeface="Aptos"/>
              </a:rPr>
              <a:t>Anchor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4023359"/>
            <a:ext cx="2514600" cy="3931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050" b="0">
                <a:solidFill>
                  <a:srgbClr val="1B2736"/>
                </a:solidFill>
                <a:latin typeface="Aptos"/>
              </a:rPr>
              <a:t>mức 0–3 · dấu hiệu tích cực/tiêu cực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0" y="2011680"/>
            <a:ext cx="0" cy="2907792"/>
          </a:xfrm>
          <a:prstGeom prst="line">
            <a:avLst/>
          </a:prstGeom>
          <a:ln w="17780">
            <a:solidFill>
              <a:srgbClr val="E1E5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40680" y="1691640"/>
            <a:ext cx="5120640" cy="22860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000" b="1">
                <a:solidFill>
                  <a:srgbClr val="008284"/>
                </a:solidFill>
                <a:latin typeface="Aptos"/>
              </a:rPr>
              <a:t>EVALUATOR RUNTIME</a:t>
            </a:r>
          </a:p>
        </p:txBody>
      </p:sp>
      <p:sp>
        <p:nvSpPr>
          <p:cNvPr id="19" name="Oval 18"/>
          <p:cNvSpPr/>
          <p:nvPr/>
        </p:nvSpPr>
        <p:spPr>
          <a:xfrm>
            <a:off x="5468112" y="2221992"/>
            <a:ext cx="384048" cy="384048"/>
          </a:xfrm>
          <a:prstGeom prst="ellipse">
            <a:avLst/>
          </a:prstGeom>
          <a:solidFill>
            <a:srgbClr val="00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68112" y="2276856"/>
            <a:ext cx="384048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100" b="1">
                <a:solidFill>
                  <a:srgbClr val="FFFFFD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249424"/>
            <a:ext cx="4572000" cy="29260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500" b="1">
                <a:solidFill>
                  <a:srgbClr val="1B2736"/>
                </a:solidFill>
                <a:latin typeface="Aptos"/>
              </a:rPr>
              <a:t>Rubric được đưa vào prompt</a:t>
            </a:r>
          </a:p>
        </p:txBody>
      </p:sp>
      <p:sp>
        <p:nvSpPr>
          <p:cNvPr id="22" name="Oval 21"/>
          <p:cNvSpPr/>
          <p:nvPr/>
        </p:nvSpPr>
        <p:spPr>
          <a:xfrm>
            <a:off x="5468112" y="3044952"/>
            <a:ext cx="384048" cy="384048"/>
          </a:xfrm>
          <a:prstGeom prst="ellipse">
            <a:avLst/>
          </a:prstGeom>
          <a:solidFill>
            <a:srgbClr val="00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68112" y="3099816"/>
            <a:ext cx="384048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100" b="1">
                <a:solidFill>
                  <a:srgbClr val="FFFFFD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3072384"/>
            <a:ext cx="4572000" cy="29260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500" b="1">
                <a:solidFill>
                  <a:srgbClr val="1B2736"/>
                </a:solidFill>
                <a:latin typeface="Aptos"/>
              </a:rPr>
              <a:t>LLM trả một điểm tổng</a:t>
            </a:r>
          </a:p>
        </p:txBody>
      </p:sp>
      <p:sp>
        <p:nvSpPr>
          <p:cNvPr id="25" name="Oval 24"/>
          <p:cNvSpPr/>
          <p:nvPr/>
        </p:nvSpPr>
        <p:spPr>
          <a:xfrm>
            <a:off x="5468112" y="3867912"/>
            <a:ext cx="384048" cy="384048"/>
          </a:xfrm>
          <a:prstGeom prst="ellipse">
            <a:avLst/>
          </a:prstGeom>
          <a:solidFill>
            <a:srgbClr val="008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8112" y="3922776"/>
            <a:ext cx="384048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100" b="1">
                <a:solidFill>
                  <a:srgbClr val="FFFFFD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3895344"/>
            <a:ext cx="4572000" cy="29260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500" b="1">
                <a:solidFill>
                  <a:srgbClr val="1B2736"/>
                </a:solidFill>
                <a:latin typeface="Aptos"/>
              </a:rPr>
              <a:t>Sinh feedback và evidence quotes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4892040"/>
            <a:ext cx="5669280" cy="594360"/>
          </a:xfrm>
          <a:prstGeom prst="roundRect">
            <a:avLst>
              <a:gd name="adj" fmla="val 10000"/>
            </a:avLst>
          </a:prstGeom>
          <a:solidFill>
            <a:srgbClr val="FAEFE2"/>
          </a:solidFill>
          <a:ln w="8890">
            <a:solidFill>
              <a:srgbClr val="EED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5047488"/>
            <a:ext cx="5394960" cy="237744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100" b="1">
                <a:solidFill>
                  <a:srgbClr val="C56650"/>
                </a:solidFill>
                <a:latin typeface="Aptos"/>
              </a:rPr>
              <a:t>Chưa có bước tính criterion score × weight.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561320" cy="29260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200" b="0">
                <a:solidFill>
                  <a:srgbClr val="646F79"/>
                </a:solidFill>
                <a:latin typeface="Aptos"/>
              </a:rPr>
              <a:t>Cấu trúc rubric analytic đã có; evaluator hiện phụ thuộc judgment tổng hợp của LLM.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731520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05 / FOLLOW-UP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500" b="1">
                <a:solidFill>
                  <a:srgbClr val="1B2736"/>
                </a:solidFill>
                <a:latin typeface="Aptos"/>
              </a:rPr>
              <a:t>Follow-up / schema có policy, runtime dùng probe động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667512" cy="0"/>
          </a:xfrm>
          <a:prstGeom prst="line">
            <a:avLst/>
          </a:prstGeom>
          <a:ln w="381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00" b="0">
                <a:solidFill>
                  <a:srgbClr val="646F79"/>
                </a:solidFill>
                <a:latin typeface="Aptos"/>
              </a:rPr>
              <a:t>INTERVIEW PREP CORE  ·  TECHNICAL REPORT  ·  02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103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r"/>
            <a:r>
              <a:rPr sz="900" b="1">
                <a:solidFill>
                  <a:srgbClr val="646F79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2148840" cy="1353312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93392"/>
            <a:ext cx="2148840" cy="320040"/>
          </a:xfrm>
          <a:prstGeom prst="rect">
            <a:avLst/>
          </a:prstGeom>
          <a:solidFill>
            <a:srgbClr val="4F7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29968"/>
            <a:ext cx="205740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QuestionVersion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432304"/>
            <a:ext cx="1911095" cy="86868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50" b="0">
                <a:solidFill>
                  <a:srgbClr val="1B2736"/>
                </a:solidFill>
                <a:latin typeface="Aptos"/>
              </a:rPr>
              <a:t>id · prompt
objective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72768"/>
            <a:ext cx="2423160" cy="15727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572768"/>
            <a:ext cx="2423160" cy="320040"/>
          </a:xfrm>
          <a:prstGeom prst="rect">
            <a:avLst/>
          </a:prstGeom>
          <a:solidFill>
            <a:srgbClr val="C56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39" y="1609344"/>
            <a:ext cx="233172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QuestionFollowUp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1" y="2011680"/>
            <a:ext cx="2185415" cy="108813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80" b="0">
                <a:solidFill>
                  <a:srgbClr val="1B2736"/>
                </a:solidFill>
                <a:latin typeface="Aptos"/>
              </a:rPr>
              <a:t>question version
policy + criterion
template · fallback
max uses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72768"/>
            <a:ext cx="2423160" cy="15727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72768"/>
            <a:ext cx="2423160" cy="320040"/>
          </a:xfrm>
          <a:prstGeom prst="rect">
            <a:avLst/>
          </a:prstGeom>
          <a:solidFill>
            <a:srgbClr val="C56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09344"/>
            <a:ext cx="233172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FollowUpPolicy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011680"/>
            <a:ext cx="2185415" cy="108813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80" b="0">
                <a:solidFill>
                  <a:srgbClr val="1B2736"/>
                </a:solidFill>
                <a:latin typeface="Aptos"/>
              </a:rPr>
              <a:t>action · target criterion
trigger policy
constraints ·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749039"/>
            <a:ext cx="2423160" cy="1280160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749039"/>
            <a:ext cx="2423160" cy="320040"/>
          </a:xfrm>
          <a:prstGeom prst="rect">
            <a:avLst/>
          </a:prstGeom>
          <a:solidFill>
            <a:srgbClr val="D09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85615"/>
            <a:ext cx="2331720" cy="219456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RubricCriterion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187952"/>
            <a:ext cx="2185415" cy="795527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0">
                <a:solidFill>
                  <a:srgbClr val="1B2736"/>
                </a:solidFill>
                <a:latin typeface="Aptos"/>
              </a:rPr>
              <a:t>stable key · weight
critical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743200" y="2377440"/>
            <a:ext cx="502920" cy="274320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69280" y="2103120"/>
            <a:ext cx="685800" cy="0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69280" y="2770632"/>
            <a:ext cx="685800" cy="1572768"/>
          </a:xfrm>
          <a:prstGeom prst="line">
            <a:avLst/>
          </a:prstGeom>
          <a:ln w="1778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35440" y="1572768"/>
            <a:ext cx="2331720" cy="3456432"/>
          </a:xfrm>
          <a:prstGeom prst="roundRect">
            <a:avLst>
              <a:gd name="adj" fmla="val 10000"/>
            </a:avLst>
          </a:prstGeom>
          <a:solidFill>
            <a:srgbClr val="1B2736"/>
          </a:solidFill>
          <a:ln w="8890">
            <a:solidFill>
              <a:srgbClr val="1B2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3184" y="1856231"/>
            <a:ext cx="1874519" cy="22860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1">
                <a:solidFill>
                  <a:srgbClr val="76D1C2"/>
                </a:solidFill>
                <a:latin typeface="Aptos"/>
              </a:rPr>
              <a:t>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395728"/>
            <a:ext cx="1874519" cy="214884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200" b="1">
                <a:solidFill>
                  <a:srgbClr val="FFFFFD"/>
                </a:solidFill>
                <a:latin typeface="Aptos"/>
              </a:rPr>
              <a:t>Phân tích đáp án
↓
LLM tạo tối đa
1 probe
↓
Gộp câu trả lời
↓
Chấm chung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440680"/>
            <a:ext cx="1065276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200" b="1">
                <a:solidFill>
                  <a:srgbClr val="C56650"/>
                </a:solidFill>
                <a:latin typeface="Aptos"/>
              </a:rPr>
              <a:t>Runtime hiện chưa đọc follow-up template/policy từ bank. Probe được gộp vào câu chính và không có điểm riêng.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731520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06 / ĐỀ XUẤT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500" b="1">
                <a:solidFill>
                  <a:srgbClr val="1B2736"/>
                </a:solidFill>
                <a:latin typeface="Aptos"/>
              </a:rPr>
              <a:t>Ba ưu tiên để tăng tính minh bạch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667512" cy="0"/>
          </a:xfrm>
          <a:prstGeom prst="line">
            <a:avLst/>
          </a:prstGeom>
          <a:ln w="381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00" b="0">
                <a:solidFill>
                  <a:srgbClr val="646F79"/>
                </a:solidFill>
                <a:latin typeface="Aptos"/>
              </a:rPr>
              <a:t>INTERVIEW PREP CORE  ·  TECHNICAL REPORT  ·  02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103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r"/>
            <a:r>
              <a:rPr sz="900" b="1">
                <a:solidFill>
                  <a:srgbClr val="646F79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01952"/>
            <a:ext cx="3364992" cy="24871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157984"/>
            <a:ext cx="502920" cy="3931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200" b="1">
                <a:solidFill>
                  <a:srgbClr val="D09745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761488"/>
            <a:ext cx="2880360" cy="38404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600" b="1">
                <a:solidFill>
                  <a:srgbClr val="1B2736"/>
                </a:solidFill>
                <a:latin typeface="Aptos"/>
              </a:rPr>
              <a:t>Structured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383280"/>
            <a:ext cx="2852928" cy="77724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200" b="0">
                <a:solidFill>
                  <a:srgbClr val="646F79"/>
                </a:solidFill>
                <a:latin typeface="Aptos"/>
              </a:rPr>
              <a:t>Điểm theo criterion, evidence và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901952"/>
            <a:ext cx="3364992" cy="24871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157984"/>
            <a:ext cx="502920" cy="3931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200" b="1">
                <a:solidFill>
                  <a:srgbClr val="C56650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761488"/>
            <a:ext cx="2880360" cy="38404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600" b="1">
                <a:solidFill>
                  <a:srgbClr val="1B2736"/>
                </a:solidFill>
                <a:latin typeface="Aptos"/>
              </a:rPr>
              <a:t>Policy-driven probe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383280"/>
            <a:ext cx="2852928" cy="77724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200" b="0">
                <a:solidFill>
                  <a:srgbClr val="646F79"/>
                </a:solidFill>
                <a:latin typeface="Aptos"/>
              </a:rPr>
              <a:t>Chọn follow-up theo criterion còn thiếu; áp trigger và max_uses.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901952"/>
            <a:ext cx="3364992" cy="2487168"/>
          </a:xfrm>
          <a:prstGeom prst="roundRect">
            <a:avLst>
              <a:gd name="adj" fmla="val 10000"/>
            </a:avLst>
          </a:prstGeom>
          <a:solidFill>
            <a:srgbClr val="FFFFFD"/>
          </a:solidFill>
          <a:ln w="8890">
            <a:solidFill>
              <a:srgbClr val="E1E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157984"/>
            <a:ext cx="502920" cy="3931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200" b="1">
                <a:solidFill>
                  <a:srgbClr val="008284"/>
                </a:solidFill>
                <a:latin typeface="Aptos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61488"/>
            <a:ext cx="2880360" cy="38404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600" b="1">
                <a:solidFill>
                  <a:srgbClr val="1B2736"/>
                </a:solidFill>
                <a:latin typeface="Aptos"/>
              </a:rPr>
              <a:t>Versioned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83280"/>
            <a:ext cx="2852928" cy="77724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200" b="0">
                <a:solidFill>
                  <a:srgbClr val="646F79"/>
                </a:solidFill>
                <a:latin typeface="Aptos"/>
              </a:rPr>
              <a:t>Lưu rubric, evaluator và prompt version cùng score breakdown.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424160" cy="59436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700" b="1">
                <a:solidFill>
                  <a:srgbClr val="1B2736"/>
                </a:solidFill>
                <a:latin typeface="Aptos"/>
              </a:rPr>
              <a:t>Mỗi điểm số cần truy ngược được về tiêu chí, bằng chứng và phiên bản cấu hình.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7315200" cy="201168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900" b="1">
                <a:solidFill>
                  <a:srgbClr val="008284"/>
                </a:solidFill>
                <a:latin typeface="Aptos"/>
              </a:rPr>
              <a:t>07 /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500" b="1">
                <a:solidFill>
                  <a:srgbClr val="1B2736"/>
                </a:solidFill>
                <a:latin typeface="Aptos"/>
              </a:rPr>
              <a:t>Tóm tắt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98448"/>
            <a:ext cx="667512" cy="0"/>
          </a:xfrm>
          <a:prstGeom prst="line">
            <a:avLst/>
          </a:prstGeom>
          <a:ln w="38100">
            <a:solidFill>
              <a:srgbClr val="008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92240"/>
            <a:ext cx="8229600" cy="16459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800" b="0">
                <a:solidFill>
                  <a:srgbClr val="646F79"/>
                </a:solidFill>
                <a:latin typeface="Aptos"/>
              </a:rPr>
              <a:t>INTERVIEW PREP CORE  ·  TECHNICAL REPORT  ·  02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55664"/>
            <a:ext cx="502920" cy="210312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r"/>
            <a:r>
              <a:rPr sz="900" b="1">
                <a:solidFill>
                  <a:srgbClr val="646F79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663440" cy="123444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2600" b="1">
                <a:solidFill>
                  <a:srgbClr val="1B2736"/>
                </a:solidFill>
                <a:latin typeface="Aptos"/>
              </a:rPr>
              <a:t>Nền tảng versioning
và audit đã có.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29000"/>
            <a:ext cx="4389120" cy="86868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600" b="0">
                <a:solidFill>
                  <a:srgbClr val="646F79"/>
                </a:solidFill>
                <a:latin typeface="Aptos"/>
              </a:rPr>
              <a:t>Bước tiếp theo: nối rubric chi tiết và follow-up policy vào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664208"/>
            <a:ext cx="5440680" cy="3584448"/>
          </a:xfrm>
          <a:prstGeom prst="roundRect">
            <a:avLst>
              <a:gd name="adj" fmla="val 10000"/>
            </a:avLst>
          </a:prstGeom>
          <a:solidFill>
            <a:srgbClr val="1B2736"/>
          </a:solidFill>
          <a:ln w="8890">
            <a:solidFill>
              <a:srgbClr val="1B2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663440" cy="22860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000" b="1">
                <a:solidFill>
                  <a:srgbClr val="76D1C2"/>
                </a:solidFill>
                <a:latin typeface="Aptos"/>
              </a:rPr>
              <a:t>MÃ NGUỒN ĐỐI CHIẾU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487168"/>
            <a:ext cx="4617720" cy="2057400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l"/>
            <a:r>
              <a:rPr sz="1200" b="0">
                <a:solidFill>
                  <a:srgbClr val="FFFFFD"/>
                </a:solidFill>
                <a:latin typeface="Aptos"/>
              </a:rPr>
              <a:t>question_bank/models.py
interviews/question_selector.py
interviews/core/interview_engine.py
interviews/evaluation/evaluation_engine.py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69280"/>
            <a:ext cx="10607040" cy="329184"/>
          </a:xfrm>
          <a:prstGeom prst="rect">
            <a:avLst/>
          </a:prstGeom>
          <a:noFill/>
        </p:spPr>
        <p:txBody>
          <a:bodyPr wrap="square" lIns="27432" rIns="27432" tIns="22860" bIns="22860">
            <a:spAutoFit/>
          </a:bodyPr>
          <a:lstStyle/>
          <a:p>
            <a:pPr algn="ctr"/>
            <a:r>
              <a:rPr sz="1000" b="0">
                <a:solidFill>
                  <a:srgbClr val="646F79"/>
                </a:solidFill>
                <a:latin typeface="Aptos"/>
              </a:rPr>
              <a:t>Báo cáo dựa trên schema và runtime hiện có trong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