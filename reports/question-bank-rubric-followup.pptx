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457200"/>
            <a:ext cx="2468880" cy="246888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3291840"/>
            <a:ext cx="1234440" cy="1234440"/>
          </a:xfrm>
          <a:prstGeom prst="ellipse">
            <a:avLst/>
          </a:prstGeom>
          <a:solidFill>
            <a:srgbClr val="3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4114800"/>
            <a:ext cx="658368" cy="658368"/>
          </a:xfrm>
          <a:prstGeom prst="ellipse">
            <a:avLst/>
          </a:prstGeom>
          <a:solidFill>
            <a:srgbClr val="7B6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1323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9DCE0"/>
                </a:solidFill>
                <a:latin typeface="Aptos"/>
              </a:rPr>
              <a:t>BÁO CÁO THIẾT KẾ &amp; HIỆN TRẠNG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740664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Question Bank,
Rubric &amp;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676656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CDD8E7"/>
                </a:solidFill>
                <a:latin typeface="Aptos"/>
              </a:rPr>
              <a:t>Mô hình dữ liệu · chấm điểm · câu hỏi đào sâu
Kèm class diagram từ schema trong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4114800" cy="502920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 w="10160">
            <a:solidFill>
              <a:srgbClr val="374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992624"/>
            <a:ext cx="379476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INTERVIEW PREP CORE  |  02.10.2026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A2B2C6"/>
                </a:solidFill>
                <a:latin typeface="Aptos"/>
              </a:rPr>
              <a:t>Tập trung vào luồng hiện có trong code và phân biệt rõ với thiết kế lưu trong bank.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0097A7"/>
                </a:solidFill>
                <a:latin typeface="Aptos"/>
              </a:rPr>
              <a:t>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111D33"/>
                </a:solidFill>
                <a:latin typeface="Aptos"/>
              </a:rPr>
              <a:t>Question Bank là nguồn chuẩn có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40080" cy="457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C81"/>
                </a:solidFill>
                <a:latin typeface="Aptos"/>
              </a:rPr>
              <a:t>QUESTION BANK  •  RUBRIC  •  FOLLOW-UP  |  Repo review · 02.10.2026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C81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64008" cy="1828800"/>
          </a:xfrm>
          <a:prstGeom prst="rect">
            <a:avLst/>
          </a:prstGeom>
          <a:solidFill>
            <a:srgbClr val="3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55063"/>
            <a:ext cx="319125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1D33"/>
                </a:solidFill>
                <a:latin typeface="Aptos"/>
              </a:rPr>
              <a:t>1 · Biên soạn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29967"/>
            <a:ext cx="3191256" cy="120700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C81"/>
                </a:solidFill>
                <a:latin typeface="Aptos"/>
              </a:rPr>
              <a:t>Câu hỏi được gắn taxonomy, mục tiêu, độ khó, thời lượng và ý kỳ vọng.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64008" cy="1828800"/>
          </a:xfrm>
          <a:prstGeom prst="rect">
            <a:avLst/>
          </a:prstGeom>
          <a:solidFill>
            <a:srgbClr val="7B6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55063"/>
            <a:ext cx="319125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1D33"/>
                </a:solidFill>
                <a:latin typeface="Aptos"/>
              </a:rPr>
              <a:t>2 · Chuẩn hóa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29967"/>
            <a:ext cx="3191256" cy="120700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C81"/>
                </a:solidFill>
                <a:latin typeface="Aptos"/>
              </a:rPr>
              <a:t>Mỗi phiên bản câu hỏi liên kết rubric version; trạng thái duyệt/calibration quyết định đủ điều kiện sử dụng.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64008" cy="18288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655063"/>
            <a:ext cx="3191256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1D33"/>
                </a:solidFill>
                <a:latin typeface="Aptos"/>
              </a:rPr>
              <a:t>3 · Đóng băng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029967"/>
            <a:ext cx="3191256" cy="120700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C81"/>
                </a:solidFill>
                <a:latin typeface="Aptos"/>
              </a:rPr>
              <a:t>P2 chọn phiên bản phù hợp và lưu question/rubric ID cùng snapshot vào lượt phỏng vấn.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03320"/>
            <a:ext cx="11018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913632"/>
            <a:ext cx="1828800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0097A7"/>
                </a:solidFill>
                <a:latin typeface="Aptos"/>
              </a:rPr>
              <a:t>NGUYÊN TẮC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315968"/>
            <a:ext cx="1024128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111D33"/>
                </a:solidFill>
                <a:latin typeface="Aptos"/>
              </a:rPr>
              <a:t>Chọn câu hỏi có ràng buộc theo concept, locale, archetype và độ khó; nội dung và rubric phải được khóa trước khi ứng viên trả lời để giữ khả năng audit.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0097A7"/>
                </a:solidFill>
                <a:latin typeface="Aptos"/>
              </a:rPr>
              <a:t>VÒNG ĐỜI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111D33"/>
                </a:solidFill>
                <a:latin typeface="Aptos"/>
              </a:rPr>
              <a:t>Luồng dữ liệu từ ngân hàng đến kết quả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40080" cy="457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C81"/>
                </a:solidFill>
                <a:latin typeface="Aptos"/>
              </a:rPr>
              <a:t>QUESTION BANK  •  RUBRIC  •  FOLLOW-UP  |  Repo review · 02.10.2026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C81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304288"/>
            <a:ext cx="1645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3B6FE0"/>
                </a:solidFill>
                <a:latin typeface="Aptos"/>
              </a:rPr>
              <a:t>Question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724912"/>
            <a:ext cx="1645920" cy="51206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C81"/>
                </a:solidFill>
                <a:latin typeface="Aptos"/>
              </a:rPr>
              <a:t>Question + taxonomy
expected points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761488"/>
            <a:ext cx="320040" cy="0"/>
          </a:xfrm>
          <a:prstGeom prst="line">
            <a:avLst/>
          </a:prstGeom>
          <a:ln w="254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05456" y="2487168"/>
            <a:ext cx="301752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0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21031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2304288"/>
            <a:ext cx="1645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7B61CF"/>
                </a:solidFill>
                <a:latin typeface="Aptos"/>
              </a:rPr>
              <a:t>Selector 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724912"/>
            <a:ext cx="1645920" cy="51206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C81"/>
                </a:solidFill>
                <a:latin typeface="Aptos"/>
              </a:rPr>
              <a:t>Lọc APPROVED /
CALIBRATED + rubric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2761488"/>
            <a:ext cx="320040" cy="0"/>
          </a:xfrm>
          <a:prstGeom prst="line">
            <a:avLst/>
          </a:prstGeom>
          <a:ln w="254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91456" y="2487168"/>
            <a:ext cx="301752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0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8" y="21031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2304288"/>
            <a:ext cx="1645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0097A7"/>
                </a:solidFill>
                <a:latin typeface="Aptos"/>
              </a:rPr>
              <a:t>Turn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724912"/>
            <a:ext cx="1645920" cy="51206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C81"/>
                </a:solidFill>
                <a:latin typeface="Aptos"/>
              </a:rPr>
              <a:t>Khóa version, prompt,
rubric, expected points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80" y="2761488"/>
            <a:ext cx="320039" cy="0"/>
          </a:xfrm>
          <a:prstGeom prst="line">
            <a:avLst/>
          </a:prstGeom>
          <a:ln w="254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77456" y="2487168"/>
            <a:ext cx="301752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0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7" y="21031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5" y="2304288"/>
            <a:ext cx="1645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E69138"/>
                </a:solidFill>
                <a:latin typeface="Aptos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24912"/>
            <a:ext cx="1645920" cy="51206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C81"/>
                </a:solidFill>
                <a:latin typeface="Aptos"/>
              </a:rPr>
              <a:t>Hỏi · nhận đáp án ·
probe nếu cần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761488"/>
            <a:ext cx="320039" cy="0"/>
          </a:xfrm>
          <a:prstGeom prst="line">
            <a:avLst/>
          </a:prstGeom>
          <a:ln w="254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63455" y="2487168"/>
            <a:ext cx="301752" cy="21945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0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21031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0655" y="2304288"/>
            <a:ext cx="1645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349770"/>
                </a:solidFill>
                <a:latin typeface="Aptos"/>
              </a:rP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5" y="2724912"/>
            <a:ext cx="1645920" cy="51206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C81"/>
                </a:solidFill>
                <a:latin typeface="Aptos"/>
              </a:rPr>
              <a:t>LLM tạo điểm tổng,
feedback,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114800"/>
            <a:ext cx="10744200" cy="1115568"/>
          </a:xfrm>
          <a:prstGeom prst="roundRect">
            <a:avLst>
              <a:gd name="adj" fmla="val 12000"/>
            </a:avLst>
          </a:prstGeom>
          <a:solidFill>
            <a:srgbClr val="E8F5F6"/>
          </a:solidFill>
          <a:ln w="10160">
            <a:solidFill>
              <a:srgbClr val="BE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315968"/>
            <a:ext cx="1024128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111D33"/>
                </a:solidFill>
                <a:latin typeface="Aptos"/>
              </a:rPr>
              <a:t>Audit trail: question_version_id + rubric_version_id + snapshot giúp tái hiện cấu hình đã dùng, kể cả khi bank được cập nhật sau đó.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0097A7"/>
                </a:solidFill>
                <a:latin typeface="Aptos"/>
              </a:rPr>
              <a:t>MÔ HÌNH LỚP / QUAN HỆ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111D33"/>
                </a:solidFill>
                <a:latin typeface="Aptos"/>
              </a:rPr>
              <a:t>Class diagram — Question Bank &amp;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40080" cy="457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C81"/>
                </a:solidFill>
                <a:latin typeface="Aptos"/>
              </a:rPr>
              <a:t>QUESTION BANK  •  RUBRIC  •  FOLLOW-UP  |  Repo review · 02.10.2026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C81"/>
                </a:solidFill>
                <a:latin typeface="Aptos"/>
              </a:rP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1938528"/>
            <a:ext cx="548640" cy="0"/>
          </a:xfrm>
          <a:prstGeom prst="line">
            <a:avLst/>
          </a:prstGeom>
          <a:ln w="14604">
            <a:solidFill>
              <a:srgbClr val="5B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66360" y="1938528"/>
            <a:ext cx="429768" cy="0"/>
          </a:xfrm>
          <a:prstGeom prst="line">
            <a:avLst/>
          </a:prstGeom>
          <a:ln w="14604">
            <a:solidFill>
              <a:srgbClr val="5B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42048" y="1938528"/>
            <a:ext cx="457200" cy="0"/>
          </a:xfrm>
          <a:prstGeom prst="line">
            <a:avLst/>
          </a:prstGeom>
          <a:ln w="14604">
            <a:solidFill>
              <a:srgbClr val="5B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3337560"/>
            <a:ext cx="0" cy="640079"/>
          </a:xfrm>
          <a:prstGeom prst="line">
            <a:avLst/>
          </a:prstGeom>
          <a:ln w="14604">
            <a:solidFill>
              <a:srgbClr val="5B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60520" y="3337560"/>
            <a:ext cx="0" cy="640079"/>
          </a:xfrm>
          <a:prstGeom prst="line">
            <a:avLst/>
          </a:prstGeom>
          <a:ln w="14604">
            <a:solidFill>
              <a:srgbClr val="5B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46520" y="3337560"/>
            <a:ext cx="0" cy="640079"/>
          </a:xfrm>
          <a:prstGeom prst="line">
            <a:avLst/>
          </a:prstGeom>
          <a:ln w="14604">
            <a:solidFill>
              <a:srgbClr val="5B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3337560"/>
            <a:ext cx="0" cy="640079"/>
          </a:xfrm>
          <a:prstGeom prst="line">
            <a:avLst/>
          </a:prstGeom>
          <a:ln w="14604">
            <a:solidFill>
              <a:srgbClr val="5B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87000" y="2697480"/>
            <a:ext cx="0" cy="1280159"/>
          </a:xfrm>
          <a:prstGeom prst="line">
            <a:avLst/>
          </a:prstGeom>
          <a:ln w="14604">
            <a:solidFill>
              <a:srgbClr val="5B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1417320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1417320"/>
            <a:ext cx="2057400" cy="320040"/>
          </a:xfrm>
          <a:prstGeom prst="roundRect">
            <a:avLst>
              <a:gd name="adj" fmla="val 12000"/>
            </a:avLst>
          </a:prstGeom>
          <a:solidFill>
            <a:srgbClr val="3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3" y="1431036"/>
            <a:ext cx="1947672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InterviewQuestion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01368"/>
            <a:ext cx="1856231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02D41"/>
                </a:solidFill>
                <a:latin typeface="Aptos"/>
              </a:rPr>
              <a:t>id · stable_key
current_approved_version_id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1325880"/>
            <a:ext cx="20116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54680" y="1325880"/>
            <a:ext cx="2011680" cy="320040"/>
          </a:xfrm>
          <a:prstGeom prst="roundRect">
            <a:avLst>
              <a:gd name="adj" fmla="val 12000"/>
            </a:avLst>
          </a:prstGeom>
          <a:solidFill>
            <a:srgbClr val="3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9544" y="1339595"/>
            <a:ext cx="1901952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QuestionVersion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1709928"/>
            <a:ext cx="1810512" cy="8869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202D41"/>
                </a:solidFill>
                <a:latin typeface="Aptos"/>
              </a:rPr>
              <a:t>id · question_id · version
status · type · difficulty
canonical_text · duration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96128" y="1417320"/>
            <a:ext cx="1645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96128" y="1417320"/>
            <a:ext cx="1645920" cy="320040"/>
          </a:xfrm>
          <a:prstGeom prst="roundRect">
            <a:avLst>
              <a:gd name="adj" fmla="val 12000"/>
            </a:avLst>
          </a:prstGeom>
          <a:solidFill>
            <a:srgbClr val="7B6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50992" y="1431036"/>
            <a:ext cx="1536192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VersionRubric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6" y="1801368"/>
            <a:ext cx="1444752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02D41"/>
                </a:solidFill>
                <a:latin typeface="Aptos"/>
              </a:rPr>
              <a:t>question_version_id
rubric_version_id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1325880"/>
            <a:ext cx="22402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99248" y="1325880"/>
            <a:ext cx="2240280" cy="320040"/>
          </a:xfrm>
          <a:prstGeom prst="roundRect">
            <a:avLst>
              <a:gd name="adj" fmla="val 12000"/>
            </a:avLst>
          </a:prstGeom>
          <a:solidFill>
            <a:srgbClr val="7B6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1339595"/>
            <a:ext cx="2130552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RubricVersion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5" y="1709928"/>
            <a:ext cx="2039112" cy="8869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202D41"/>
                </a:solidFill>
                <a:latin typeface="Aptos"/>
              </a:rPr>
              <a:t>id · version · score range
minimum_coverage
aggregation_method/policy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977639"/>
            <a:ext cx="2103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3977639"/>
            <a:ext cx="2103120" cy="320040"/>
          </a:xfrm>
          <a:prstGeom prst="roundRect">
            <a:avLst>
              <a:gd name="adj" fmla="val 12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3" y="3991355"/>
            <a:ext cx="1993391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ExpectedPoint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61688"/>
            <a:ext cx="1901951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202D41"/>
                </a:solidFill>
                <a:latin typeface="Aptos"/>
              </a:rPr>
              <a:t>question_version_id
stable_key · description
importance · display_order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0" y="3977639"/>
            <a:ext cx="2103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0" y="3977639"/>
            <a:ext cx="2103120" cy="320040"/>
          </a:xfrm>
          <a:prstGeom prst="roundRect">
            <a:avLst>
              <a:gd name="adj" fmla="val 12000"/>
            </a:avLst>
          </a:prstGeom>
          <a:solidFill>
            <a:srgbClr val="7B6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63824" y="3991355"/>
            <a:ext cx="1993391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RubricCriterion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8688" y="4361688"/>
            <a:ext cx="1901951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02D41"/>
                </a:solidFill>
                <a:latin typeface="Aptos"/>
              </a:rPr>
              <a:t>rubric_version_id
name · weight · critical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3977639"/>
            <a:ext cx="1783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577840" y="3977639"/>
            <a:ext cx="1783080" cy="320040"/>
          </a:xfrm>
          <a:prstGeom prst="roundRect">
            <a:avLst>
              <a:gd name="adj" fmla="val 12000"/>
            </a:avLst>
          </a:prstGeom>
          <a:solidFill>
            <a:srgbClr val="7B6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32703" y="3991355"/>
            <a:ext cx="1673352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RubricAnchor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87568" y="4361688"/>
            <a:ext cx="1581912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202D41"/>
                </a:solidFill>
                <a:latin typeface="Aptos"/>
              </a:rPr>
              <a:t>criterion_id · level 0..3
indicators + description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6679" y="3977639"/>
            <a:ext cx="24688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26679" y="3977639"/>
            <a:ext cx="2468880" cy="320040"/>
          </a:xfrm>
          <a:prstGeom prst="roundRect">
            <a:avLst>
              <a:gd name="adj" fmla="val 12000"/>
            </a:avLst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81544" y="3991355"/>
            <a:ext cx="2359152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FollowUpPolicy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36407" y="4361688"/>
            <a:ext cx="2267712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0" b="0">
                <a:solidFill>
                  <a:srgbClr val="202D41"/>
                </a:solidFill>
                <a:latin typeface="Aptos"/>
              </a:rPr>
              <a:t>stable_key · version · action
target criterion · trigger
constraints · status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78440" y="3977639"/>
            <a:ext cx="13258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378440" y="3977639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33304" y="3991355"/>
            <a:ext cx="1216152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QuestionFollowUp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88167" y="4361688"/>
            <a:ext cx="1124712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202D41"/>
                </a:solidFill>
                <a:latin typeface="Aptos"/>
              </a:rPr>
              <a:t>question version
policy + criterion
template/fallback
max_uses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532120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C81"/>
                </a:solidFill>
                <a:latin typeface="Aptos"/>
              </a:rPr>
              <a:t>1 question → nhiều version | 1 rubric version → nhiều criterion → mỗi criterion có các anchor 0–3 | Follow-up gắn câu hỏi, policy và criterion đích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0097A7"/>
                </a:solidFill>
                <a:latin typeface="Aptos"/>
              </a:rPr>
              <a:t>QUESTION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111D33"/>
                </a:solidFill>
                <a:latin typeface="Aptos"/>
              </a:rPr>
              <a:t>Một phiên bản câu hỏi chứa đủ ngữ cảnh đánh giá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40080" cy="457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C81"/>
                </a:solidFill>
                <a:latin typeface="Aptos"/>
              </a:rPr>
              <a:t>QUESTION BANK  •  RUBRIC  •  FOLLOW-UP  |  Repo review · 02.10.2026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C81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349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64008" cy="1508760"/>
          </a:xfrm>
          <a:prstGeom prst="rect">
            <a:avLst/>
          </a:prstGeom>
          <a:solidFill>
            <a:srgbClr val="3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27632"/>
            <a:ext cx="5020055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1D33"/>
                </a:solidFill>
                <a:latin typeface="Aptos"/>
              </a:rPr>
              <a:t>Nội dung &amp; mục tiêu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02536"/>
            <a:ext cx="5020055" cy="88696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C81"/>
                </a:solidFill>
                <a:latin typeface="Aptos"/>
              </a:rPr>
              <a:t>canonical_text, objective, question_type, canonical_locale và taxonomy concept mapping.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81328"/>
            <a:ext cx="5349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81328"/>
            <a:ext cx="64008" cy="15087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5020055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1D33"/>
                </a:solidFill>
                <a:latin typeface="Aptos"/>
              </a:rPr>
              <a:t>Độ khó &amp; thời gian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02536"/>
            <a:ext cx="5020055" cy="88696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C81"/>
                </a:solidFill>
                <a:latin typeface="Aptos"/>
              </a:rPr>
              <a:t>difficulty_band cùng thinking_seconds, soft_answer_seconds, hard_answer_seconds để selector/runtime lập kế hoạch.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73552"/>
            <a:ext cx="5349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73552"/>
            <a:ext cx="64008" cy="1508760"/>
          </a:xfrm>
          <a:prstGeom prst="rect">
            <a:avLst/>
          </a:prstGeom>
          <a:solidFill>
            <a:srgbClr val="34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419856"/>
            <a:ext cx="5020055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1D33"/>
                </a:solidFill>
                <a:latin typeface="Aptos"/>
              </a:rPr>
              <a:t>Bằng chứng mong đợi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794760"/>
            <a:ext cx="5020055" cy="88696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C81"/>
                </a:solidFill>
                <a:latin typeface="Aptos"/>
              </a:rPr>
              <a:t>expected_points ghi các ý cần nghe; importance và thứ tự hỗ trợ coverage và phản hồi có căn cứ.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73552"/>
            <a:ext cx="5349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273552"/>
            <a:ext cx="64008" cy="1508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419856"/>
            <a:ext cx="5020055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11D33"/>
                </a:solidFill>
                <a:latin typeface="Aptos"/>
              </a:rPr>
              <a:t>Quản trị phiên bản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94760"/>
            <a:ext cx="5020055" cy="88696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C81"/>
                </a:solidFill>
                <a:latin typeface="Aptos"/>
              </a:rPr>
              <a:t>DRAFT → review/approval → APPROVED/CALIBRATED; câu đã retire hoặc phiên bản chưa đạt không nên vào phiên mới.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10515600" cy="4297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11D33"/>
                </a:solidFill>
                <a:latin typeface="Aptos"/>
              </a:rPr>
              <a:t>Selector hiện lấy current_approved_version_id, kiểm tra taxonomy/locale/độ khó, rồi tạo snapshot cho turn.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0097A7"/>
                </a:solidFill>
                <a:latin typeface="Aptos"/>
              </a:rPr>
              <a:t>CHẤM ĐIỂM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111D33"/>
                </a:solidFill>
                <a:latin typeface="Aptos"/>
              </a:rPr>
              <a:t>Rubric lưu barem có cấu trúc; runtime hiện chấm điểm tổng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40080" cy="457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C81"/>
                </a:solidFill>
                <a:latin typeface="Aptos"/>
              </a:rPr>
              <a:t>QUESTION BANK  •  RUBRIC  •  FOLLOW-UP  |  Repo review · 02.10.2026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C81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489204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19072"/>
            <a:ext cx="43891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7B61CF"/>
                </a:solidFill>
                <a:latin typeface="Aptos"/>
              </a:rPr>
              <a:t>CẤU TRÚC DỮ LIỆU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267712"/>
            <a:ext cx="4343400" cy="566928"/>
          </a:xfrm>
          <a:prstGeom prst="roundRect">
            <a:avLst>
              <a:gd name="adj" fmla="val 12000"/>
            </a:avLst>
          </a:prstGeom>
          <a:solidFill>
            <a:srgbClr val="F6F4FC"/>
          </a:solidFill>
          <a:ln w="10160">
            <a:solidFill>
              <a:srgbClr val="E0D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40864"/>
            <a:ext cx="11887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7B61CF"/>
                </a:solidFill>
                <a:latin typeface="Aptos"/>
              </a:rPr>
              <a:t>RubricVersion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22576"/>
            <a:ext cx="2907792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202D41"/>
                </a:solidFill>
                <a:latin typeface="Aptos"/>
              </a:rPr>
              <a:t>score_min/max · coverage floor · aggregation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3044952"/>
            <a:ext cx="4343400" cy="566928"/>
          </a:xfrm>
          <a:prstGeom prst="roundRect">
            <a:avLst>
              <a:gd name="adj" fmla="val 12000"/>
            </a:avLst>
          </a:prstGeom>
          <a:solidFill>
            <a:srgbClr val="F6F4FC"/>
          </a:solidFill>
          <a:ln w="10160">
            <a:solidFill>
              <a:srgbClr val="E0D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18104"/>
            <a:ext cx="11887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7B61CF"/>
                </a:solidFill>
                <a:latin typeface="Aptos"/>
              </a:rPr>
              <a:t>Criterion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099816"/>
            <a:ext cx="2907792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202D41"/>
                </a:solidFill>
                <a:latin typeface="Aptos"/>
              </a:rPr>
              <a:t>name · description · weight · critical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3822191"/>
            <a:ext cx="4343400" cy="566928"/>
          </a:xfrm>
          <a:prstGeom prst="roundRect">
            <a:avLst>
              <a:gd name="adj" fmla="val 12000"/>
            </a:avLst>
          </a:prstGeom>
          <a:solidFill>
            <a:srgbClr val="F6F4FC"/>
          </a:solidFill>
          <a:ln w="10160">
            <a:solidFill>
              <a:srgbClr val="E0D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895344"/>
            <a:ext cx="118872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7B61CF"/>
                </a:solidFill>
                <a:latin typeface="Aptos"/>
              </a:rPr>
              <a:t>Anchor 0–3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77055"/>
            <a:ext cx="2907792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202D41"/>
                </a:solidFill>
                <a:latin typeface="Aptos"/>
              </a:rPr>
              <a:t>mô tả mức điểm + positive/negative indicators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481328"/>
            <a:ext cx="571500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719072"/>
            <a:ext cx="51206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097A7"/>
                </a:solidFill>
                <a:latin typeface="Aptos"/>
              </a:rPr>
              <a:t>CÁCH CHẤM ĐANG CHẠY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212848"/>
            <a:ext cx="5074920" cy="23591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02D41"/>
                </a:solidFill>
                <a:latin typeface="Aptos"/>
              </a:rPr>
              <a:t>1. Snapshot rubric được format thành tiêu chí/anchors.
2. Evaluation prompt gửi câu hỏi, câu trả lời và rubric cho LLM.
3. LLM trả score tổng, STAR, evidence quotes, strengths/weaknesses.
4. Chưa thấy phép tính từng criterion × weight để tạo tổng điểm trong evaluator hiện tại.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394960"/>
            <a:ext cx="10698480" cy="50292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 w="10160">
            <a:solidFill>
              <a:srgbClr val="F2D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04688"/>
            <a:ext cx="104241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895519"/>
                </a:solidFill>
                <a:latin typeface="Aptos"/>
              </a:rPr>
              <a:t>Điểm thiết kế: schema hỗ trợ chấm analytic; implementation hiện vẫn phụ thuộc judgment tổng hợp của LLM.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0097A7"/>
                </a:solidFill>
                <a:latin typeface="Aptos"/>
              </a:rPr>
              <a:t>PROBE &amp;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111D33"/>
                </a:solidFill>
                <a:latin typeface="Aptos"/>
              </a:rPr>
              <a:t>Follow-up có hai cơ chế cần phân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40080" cy="457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C81"/>
                </a:solidFill>
                <a:latin typeface="Aptos"/>
              </a:rPr>
              <a:t>QUESTION BANK  •  RUBRIC  •  FOLLOW-UP  |  Repo review · 02.10.2026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C81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201168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55063"/>
            <a:ext cx="5020055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11D33"/>
                </a:solidFill>
                <a:latin typeface="Aptos"/>
              </a:rPr>
              <a:t>Follow-up lưu trong Question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29967"/>
            <a:ext cx="5020055" cy="13898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B6C81"/>
                </a:solidFill>
                <a:latin typeface="Aptos"/>
              </a:rPr>
              <a:t>question_follow_ups nối phiên bản câu hỏi + follow_up_policy + rubric criterion đích. Có template, fallback, locale và max_uses. Policy lưu trigger và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20116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55063"/>
            <a:ext cx="5020055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11D33"/>
                </a:solidFill>
                <a:latin typeface="Aptos"/>
              </a:rPr>
              <a:t>Probe runtime hiện tại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29967"/>
            <a:ext cx="5020055" cy="13898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50" b="0">
                <a:solidFill>
                  <a:srgbClr val="5B6C81"/>
                </a:solidFill>
                <a:latin typeface="Aptos"/>
              </a:rPr>
              <a:t>Engine phân tích câu trả lời, kiểm tra thiếu ý và thời gian; LLM tạo tối đa một probe trong lượt. Probe bị kiểm tra để tránh lộ rubric.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1092708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50791"/>
            <a:ext cx="21945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E69138"/>
                </a:solidFill>
                <a:latin typeface="Aptos"/>
              </a:rPr>
              <a:t>ĐIỂM QUAN TRỌNG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407408"/>
            <a:ext cx="102870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11D33"/>
                </a:solidFill>
                <a:latin typeface="Aptos"/>
              </a:rPr>
              <a:t>Runtime probe được gộp vào câu trả lời chính và chấm chung; không tạo điểm riêng. Schema QuestionFollowUp tồn tại, nhưng runtime hiện chưa đọc policy/template từ các bảng này.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C81"/>
                </a:solidFill>
                <a:latin typeface="Aptos"/>
              </a:rPr>
              <a:t>Hướng tích hợp: map missing_aspect → target criterion → policy/template đã duyệt; ghi nhận số lần dùng và gộp đáp án theo rubric cùng question 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7899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1">
                <a:solidFill>
                  <a:srgbClr val="0097A7"/>
                </a:solidFill>
                <a:latin typeface="Aptos"/>
              </a:rPr>
              <a:t>TÓM TẮT BÁO CÁO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53035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111D33"/>
                </a:solidFill>
                <a:latin typeface="Aptos"/>
              </a:rPr>
              <a:t>Kết luận và việc nên ưu tiên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40080" cy="457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C81"/>
                </a:solidFill>
                <a:latin typeface="Aptos"/>
              </a:rPr>
              <a:t>QUESTION BANK  •  RUBRIC  •  FOLLOW-UP  |  Repo review · 02.10.2026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C81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36776"/>
            <a:ext cx="530352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0097A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591056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11D33"/>
                </a:solidFill>
                <a:latin typeface="Aptos"/>
              </a:rPr>
              <a:t>Giữ version và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91056"/>
            <a:ext cx="6583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C81"/>
                </a:solidFill>
                <a:latin typeface="Aptos"/>
              </a:rPr>
              <a:t>Đảm bảo mỗi turn lưu đúng question/rubric version cùng expected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14600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530352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0097A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24328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11D33"/>
                </a:solidFill>
                <a:latin typeface="Aptos"/>
              </a:rPr>
              <a:t>Đưa rubric thành đầu ra có cấu trúc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24328"/>
            <a:ext cx="6583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C81"/>
                </a:solidFill>
                <a:latin typeface="Aptos"/>
              </a:rPr>
              <a:t>Chấm từng criterion, ghi evidence và confidence; tổng hợp theo weight/policy đã version hóa.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47872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530352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0097A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657600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11D33"/>
                </a:solidFill>
                <a:latin typeface="Aptos"/>
              </a:rPr>
              <a:t>Nối follow-up vào rubric criterion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57600"/>
            <a:ext cx="6583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C81"/>
                </a:solidFill>
                <a:latin typeface="Aptos"/>
              </a:rPr>
              <a:t>Dùng policy đã duyệt để chọn probe theo phần thiếu; đặt giới hạn số probe và thời gian.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81144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36592"/>
            <a:ext cx="530352" cy="32918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0097A7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69087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11D33"/>
                </a:solidFill>
                <a:latin typeface="Aptos"/>
              </a:rPr>
              <a:t>Theo dõi độ tin cậy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90872"/>
            <a:ext cx="6583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C81"/>
                </a:solidFill>
                <a:latin typeface="Aptos"/>
              </a:rPr>
              <a:t>Calibration, reviewer và human audit cho score thấp confidence hoặc criterion critical.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70448"/>
            <a:ext cx="10424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C81"/>
                </a:solidFill>
                <a:latin typeface="Aptos"/>
              </a:rPr>
              <a:t>Cơ sở: src/modules/question_bank/models.py · src/modules/interviews/question_selector.py · core/interview_engine.py · evaluation/evaluation_engine.py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